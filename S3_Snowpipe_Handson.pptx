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0471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Welcome. In this video we build an event-driven pipeline that loads CSV files from S3 into Snowflake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left to right. Emphasize the SQS queue is created and owned by Snowflake; we only point the S3 notification 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Console: S3 &gt; Create bucket &gt; choose region &gt; Create folder 'csv' &gt; Upload.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Least privilege: scope resources to the specific bucket and prefix.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trust policy initially uses placeholders; we replace them with values from DESC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the difference vs TRANSIENT/TEMPORARY tables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Note: CREATE OR REPLACE regenerates the external ID — you'd need to update the trust policy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Paste values exactly from DESC INTEGRATION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Optionally show PARSE_HEADER=TRUE with MATCH_BY_COLUMN_NAME as an advanced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LIST fails with access denied, re-check trust policy &amp; IAM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VALIDATION_MODE isn't supported with transformations, so the dry run uses the plain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notification_channel: arn:aws:sqs:us-east-1:xxxx:sf-snowpipe-...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Warning: put-bucket-notification-configuration replaces existing notifications on the bucket.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executionState = RUNNING and pendingFileCount in PIPE_STATUS.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Automated CSV Ingestion: AWS S3 → Snowflake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9B5E8"/>
                </a:solidFill>
                <a:latin typeface="Calibri"/>
              </a:defRPr>
            </a:pPr>
            <a:r>
              <a:t>Hands-on: Storage Integration • External Stage • File Format • COPY INTO • Snowpipe (Auto-Ingest via SQS)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444444"/>
                </a:solidFill>
                <a:latin typeface="Calibri"/>
              </a:defRPr>
            </a:pPr>
            <a:r>
              <a:t>1. Architecture &amp; data flow</a:t>
            </a:r>
          </a:p>
          <a:p>
            <a:pPr>
              <a:spcAft>
                <a:spcPts val="400"/>
              </a:spcAft>
              <a:defRPr sz="2000" b="0">
                <a:solidFill>
                  <a:srgbClr val="444444"/>
                </a:solidFill>
                <a:latin typeface="Calibri"/>
              </a:defRPr>
            </a:pPr>
            <a:r>
              <a:t>2. AWS: S3 bucket and folder with CSV files</a:t>
            </a:r>
          </a:p>
          <a:p>
            <a:pPr>
              <a:spcAft>
                <a:spcPts val="400"/>
              </a:spcAft>
              <a:defRPr sz="2000" b="0">
                <a:solidFill>
                  <a:srgbClr val="444444"/>
                </a:solidFill>
                <a:latin typeface="Calibri"/>
              </a:defRPr>
            </a:pPr>
            <a:r>
              <a:t>3. AWS: IAM policy &amp; IAM role (trust to Snowflake)</a:t>
            </a:r>
          </a:p>
          <a:p>
            <a:pPr>
              <a:spcAft>
                <a:spcPts val="400"/>
              </a:spcAft>
              <a:defRPr sz="2000" b="0">
                <a:solidFill>
                  <a:srgbClr val="444444"/>
                </a:solidFill>
                <a:latin typeface="Calibri"/>
              </a:defRPr>
            </a:pPr>
            <a:r>
              <a:t>4. Snowflake: Target permanent table</a:t>
            </a:r>
          </a:p>
          <a:p>
            <a:pPr>
              <a:spcAft>
                <a:spcPts val="400"/>
              </a:spcAft>
              <a:defRPr sz="2000" b="0">
                <a:solidFill>
                  <a:srgbClr val="444444"/>
                </a:solidFill>
                <a:latin typeface="Calibri"/>
              </a:defRPr>
            </a:pPr>
            <a:r>
              <a:t>5. Snowflake: Storage Integration + trust handshake</a:t>
            </a:r>
          </a:p>
          <a:p>
            <a:pPr>
              <a:spcAft>
                <a:spcPts val="400"/>
              </a:spcAft>
              <a:defRPr sz="2000" b="0">
                <a:solidFill>
                  <a:srgbClr val="444444"/>
                </a:solidFill>
                <a:latin typeface="Calibri"/>
              </a:defRPr>
            </a:pPr>
            <a:r>
              <a:t>6. Snowflake: File Format</a:t>
            </a:r>
          </a:p>
          <a:p>
            <a:pPr>
              <a:spcAft>
                <a:spcPts val="400"/>
              </a:spcAft>
              <a:defRPr sz="2000" b="0">
                <a:solidFill>
                  <a:srgbClr val="444444"/>
                </a:solidFill>
                <a:latin typeface="Calibri"/>
              </a:defRPr>
            </a:pPr>
            <a:r>
              <a:t>7. Snowflake: External Stage</a:t>
            </a:r>
          </a:p>
          <a:p>
            <a:pPr>
              <a:spcAft>
                <a:spcPts val="400"/>
              </a:spcAft>
              <a:defRPr sz="2000" b="0">
                <a:solidFill>
                  <a:srgbClr val="444444"/>
                </a:solidFill>
                <a:latin typeface="Calibri"/>
              </a:defRPr>
            </a:pPr>
            <a:r>
              <a:t>8. Snowflake: COPY INTO (manual/bulk load)</a:t>
            </a:r>
          </a:p>
          <a:p>
            <a:pPr>
              <a:spcAft>
                <a:spcPts val="400"/>
              </a:spcAft>
              <a:defRPr sz="2000" b="0">
                <a:solidFill>
                  <a:srgbClr val="444444"/>
                </a:solidFill>
                <a:latin typeface="Calibri"/>
              </a:defRPr>
            </a:pPr>
            <a:r>
              <a:t>9. Snowflake: Snowpipe with AUTO_INGEST</a:t>
            </a:r>
          </a:p>
          <a:p>
            <a:pPr>
              <a:spcAft>
                <a:spcPts val="400"/>
              </a:spcAft>
              <a:defRPr sz="2000" b="0">
                <a:solidFill>
                  <a:srgbClr val="444444"/>
                </a:solidFill>
                <a:latin typeface="Calibri"/>
              </a:defRPr>
            </a:pPr>
            <a:r>
              <a:t>10. AWS: S3 Event Notification → Snowpipe SQS</a:t>
            </a:r>
          </a:p>
          <a:p>
            <a:pPr>
              <a:spcAft>
                <a:spcPts val="400"/>
              </a:spcAft>
              <a:defRPr sz="2000" b="0">
                <a:solidFill>
                  <a:srgbClr val="444444"/>
                </a:solidFill>
                <a:latin typeface="Calibri"/>
              </a:defRPr>
            </a:pPr>
            <a:r>
              <a:t>11. End-to-end test, monitoring &amp; troubleshooting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Architecture &amp;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737360"/>
            <a:ext cx="1691640" cy="11887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CSV file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uploaded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29968" y="2194560"/>
            <a:ext cx="219456" cy="274320"/>
          </a:xfrm>
          <a:prstGeom prst="rightArrow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267712" y="1737360"/>
            <a:ext cx="1691640" cy="11887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S3 Bucket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/folder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77640" y="2194560"/>
            <a:ext cx="219456" cy="274320"/>
          </a:xfrm>
          <a:prstGeom prst="rightArrow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15384" y="1737360"/>
            <a:ext cx="1691640" cy="11887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S3 Event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Notification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25312" y="2194560"/>
            <a:ext cx="219456" cy="274320"/>
          </a:xfrm>
          <a:prstGeom prst="rightArrow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63056" y="1737360"/>
            <a:ext cx="1691640" cy="118872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SQS Queue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(Snowflake-owned)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72984" y="2194560"/>
            <a:ext cx="219456" cy="274320"/>
          </a:xfrm>
          <a:prstGeom prst="rightArrow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10728" y="1737360"/>
            <a:ext cx="1691640" cy="118872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Snowpipe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(COPY INTO)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820656" y="2194560"/>
            <a:ext cx="219456" cy="274320"/>
          </a:xfrm>
          <a:prstGeom prst="rightArrow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58400" y="1737360"/>
            <a:ext cx="1691640" cy="118872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Permanent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291840"/>
            <a:ext cx="11430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Security path: Storage Integration ⇄ IAM Role (trust policy w/ External ID) ⇄ IAM Policy (S3 read access)</a:t>
            </a:r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Stage = pointer to s3://bucket/folder/ using the integration (no keys stored in Snowflake)</a:t>
            </a:r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File Format = how to parse the CSV (delimiter, header, quotes, nulls)</a:t>
            </a:r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Flow: file lands → S3 sends event to Snowpipe's SQS ARN → Snowpipe runs its COPY INTO → rows in table</a:t>
            </a:r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Snowpipe uses serverless compute (no warehouse needed) and tracks loaded files to avoid duplicates (14-day load history)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444444"/>
                </a:solidFill>
                <a:latin typeface="Calibri"/>
              </a:defRPr>
            </a:pPr>
            <a:r>
              <a:t>Orange = AWS   |   Blue = Snowflake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Concepts – AWS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828800" cy="4572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S3 Bucket: object storage; acts as the landing zone. Files organized by prefix (folder), e.g. s3://my-bucket/csv/</a:t>
            </a:r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IAM Policy: JSON permissions document — grants s3:GetObject, s3:GetObjectVersion, s3:ListBucket (and Put/Delete if unloading/purging)</a:t>
            </a:r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IAM Role: identity Snowflake assumes. Its Trust Policy allows Snowflake's IAM user (STORAGE_AWS_IAM_USER_ARN) to assume it only with the matching External ID (STORAGE_AWS_EXTERNAL_ID)</a:t>
            </a:r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S3 Event Notification: on s3:ObjectCreated:* for the prefix/suffix (.csv), S3 publishes a message to a destination — here Snowpipe's SQS queue ARN</a:t>
            </a:r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SQS (Simple Queue Service): message queue. Snowflake provisions it per account/region and listens to it for new-file 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Concepts – Snowflake Objects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828800" cy="4572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Permanent Table: standard table with Time Travel + Fail-safe; final destination for CSV data</a:t>
            </a:r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Storage Integration: account-level object storing the IAM Role ARN &amp; allowed locations. Secure, credential-less access to S3 (no access keys in SQL)</a:t>
            </a:r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File Format: reusable parsing rules — TYPE=CSV, delimiter, SKIP_HEADER, quoting, NULL handling, error behavior</a:t>
            </a:r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External Stage: named pointer to an S3 URL + integration + file format; lets you LIST and query files</a:t>
            </a:r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COPY INTO: bulk-loads files from stage into table using a warehouse; tracks file load metadata (64 days) to skip already-loaded files</a:t>
            </a:r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Snowpipe: a PIPE object wrapping a COPY INTO; AUTO_INGEST=TRUE loads files continuously within ~1 min of arrival using serverless compute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1 – Create S3 Bucket &amp; Upload CSV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828800" cy="4572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F9900"/>
                </a:solidFill>
                <a:latin typeface="Calibri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Create bucket in same region as Snowflake account (lower latency, no egress cost)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Create a folder (prefix) for incoming files, e.g. csv/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Upload a sample CSV file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Can be done in AWS Console or AWS 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09728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F9900"/>
                </a:solidFill>
                <a:latin typeface="Calibri"/>
              </a:defRPr>
            </a:pPr>
            <a:r>
              <a:t>Commands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554480"/>
            <a:ext cx="704088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t"/>
          <a:lstStyle/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# AWS CLI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aws s3 mb s3://my-snowflake-demo-bucket --region us-east-1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# upload sample file into folder (prefix)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aws s3 cp customers.csv s3://my-snowflake-demo-bucket/csv/customers.csv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# verify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aws s3 ls s3://my-snowflake-demo-bucket/csv/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# sample customers.csv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id,name,email,city,created_at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1,John Doe,john@x.com,New York,2026-01-01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2,Jane Roe,jane@x.com,Chicago,2026-01-02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2 – IAM Policy (S3 Access)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828800" cy="4572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F9900"/>
                </a:solidFill>
                <a:latin typeface="Calibri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IAM &gt; Policies &gt; Create policy &gt; JSON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Grants read access to the bucket/prefix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Add s3:PutObject / s3:DeleteObject only if you need PURGE or unload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Name e.g. snowflake_s3_access_policy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09728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F9900"/>
                </a:solidFill>
                <a:latin typeface="Calibri"/>
              </a:defRPr>
            </a:pPr>
            <a:r>
              <a:t>Commands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554480"/>
            <a:ext cx="704088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t"/>
          <a:lstStyle/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{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"Version": "2012-10-17",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"Statement": [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{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  "Effect": "Allow",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  "Action": ["s3:GetObject", "s3:GetObjectVersion"],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  "Resource": "arn:aws:s3:::my-snowflake-demo-bucket/csv/*"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},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{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  "Effect": "Allow",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  "Action": ["s3:ListBucket", "s3:GetBucketLocation"],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  "Resource": "arn:aws:s3:::my-snowflake-demo-bucket",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  "Condition": {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    "StringLike": { "s3:prefix": ["csv/*"] }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  }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}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]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3 – IAM Role (Initial Trust)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828800" cy="4572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F9900"/>
                </a:solidFill>
                <a:latin typeface="Calibri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IAM &gt; Roles &gt; Create role &gt; AWS account &gt; 'Another AWS account'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Temporarily enter your own account ID; tick 'Require external ID' (placeholder 0000)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Attach snowflake_s3_access_policy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Name e.g. snowflake_s3_role; copy the Role ARN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Trust policy is updated after Snowflake integration is created (Step 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09728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F9900"/>
                </a:solidFill>
                <a:latin typeface="Calibri"/>
              </a:defRPr>
            </a:pPr>
            <a:r>
              <a:t>Commands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554480"/>
            <a:ext cx="704088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t"/>
          <a:lstStyle/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# Role ARN to copy (used in Storage Integration)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arn:aws:iam::123456789012:role/snowflake_s3_role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# AWS CLI alternative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aws iam create-role --role-name snowflake_s3_role \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--assume-role-policy-document file://trust.json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aws iam attach-role-policy --role-name snowflake_s3_role \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--policy-arn arn:aws:iam::123456789012:policy/snowflake_s3_access_policy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4 – Create Target Permanent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828800" cy="4572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9B5E8"/>
                </a:solidFill>
                <a:latin typeface="Calibri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Set context: role, warehouse, database, schema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Permanent table = default table type (Time Travel + Fail-safe)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Column order/types must match the CSV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Optional metadata columns capture file name &amp; load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09728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9B5E8"/>
                </a:solidFill>
                <a:latin typeface="Calibri"/>
              </a:defRPr>
            </a:pPr>
            <a:r>
              <a:t>Commands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554480"/>
            <a:ext cx="704088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t"/>
          <a:lstStyle/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USE ROLE SYSADMIN;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CREATE DATABASE IF NOT EXISTS DEMO_DB;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CREATE SCHEMA IF NOT EXISTS DEMO_DB.RAW;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USE SCHEMA DEMO_DB.RAW;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CREATE OR REPLACE TABLE DEMO_DB.RAW.CUSTOMERS (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ID          NUMBER,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NAME        VARCHAR,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EMAIL       VARCHAR,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CITY        VARCHAR,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CREATED_AT  DATE,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FILE_NAME   VARCHAR,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LOADED_AT   TIMESTAMP_LTZ DEFAULT CURRENT_TIMESTAMP()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5 – Storage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828800" cy="4572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9B5E8"/>
                </a:solidFill>
                <a:latin typeface="Calibri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Requires ACCOUNTADMIN (or CREATE INTEGRATION privilege)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Links Snowflake to the IAM Role ARN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STORAGE_ALLOWED_LOCATIONS restricts which paths can be used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DESC returns STORAGE_AWS_IAM_USER_ARN and STORAGE_AWS_EXTERNAL_ID — needed for IAM trust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Grant USAGE to the role that creates stages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09728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9B5E8"/>
                </a:solidFill>
                <a:latin typeface="Calibri"/>
              </a:defRPr>
            </a:pPr>
            <a:r>
              <a:t>Commands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554480"/>
            <a:ext cx="704088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t"/>
          <a:lstStyle/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USE ROLE ACCOUNTADMIN;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CREATE OR REPLACE STORAGE INTEGRATION S3_INT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TYPE = EXTERNAL_STAGE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STORAGE_PROVIDER = 'S3'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ENABLED = TRUE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STORAGE_AWS_ROLE_ARN =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'arn:aws:iam::123456789012:role/snowflake_s3_role'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STORAGE_ALLOWED_LOCATIONS =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('s3://my-snowflake-demo-bucket/csv/');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DESC INTEGRATION S3_INT;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-- copy: STORAGE_AWS_IAM_USER_ARN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--       STORAGE_AWS_EXTERNAL_ID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GRANT USAGE ON INTEGRATION S3_INT TO ROLE SYSADMIN;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5b – Update IAM Role Trust Policy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828800" cy="4572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F9900"/>
                </a:solidFill>
                <a:latin typeface="Calibri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IAM &gt; Roles &gt; snowflake_s3_role &gt; Trust relationships &gt; Edit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Principal = STORAGE_AWS_IAM_USER_ARN from DESC INTEGRATION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sts:ExternalId = STORAGE_AWS_EXTERNAL_ID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This completes the secure handshake: only your Snowflake account can assume the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09728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F9900"/>
                </a:solidFill>
                <a:latin typeface="Calibri"/>
              </a:defRPr>
            </a:pPr>
            <a:r>
              <a:t>Commands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554480"/>
            <a:ext cx="704088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t"/>
          <a:lstStyle/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{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"Version": "2012-10-17",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"Statement": [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{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  "Effect": "Allow",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  "Principal": {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    "AWS": "arn:aws:iam::999999999999:user/abc1-s-xxxx"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  },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  "Action": "sts:AssumeRole",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  "Condition": {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    "StringEquals": {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      "sts:ExternalId": "ABC12345_SFCRole=2_xxxxxxxx="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    }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  }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  }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]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6 – File Format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828800" cy="4572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9B5E8"/>
                </a:solidFill>
                <a:latin typeface="Calibri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Defines how Snowflake parses the CSV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SKIP_HEADER = 1 ignores header row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FIELD_OPTIONALLY_ENCLOSED_BY handles quoted values with commas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NULL_IF / EMPTY_FIELD_AS_NULL normalize blanks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Reusable across stages, COPY and pipes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09728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9B5E8"/>
                </a:solidFill>
                <a:latin typeface="Calibri"/>
              </a:defRPr>
            </a:pPr>
            <a:r>
              <a:t>Commands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554480"/>
            <a:ext cx="704088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t"/>
          <a:lstStyle/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CREATE OR REPLACE FILE FORMAT DEMO_DB.RAW.CSV_FF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TYPE = CSV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FIELD_DELIMITER = ','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SKIP_HEADER = 1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FIELD_OPTIONALLY_ENCLOSED_BY = '"'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NULL_IF = ('NULL', 'null', '')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EMPTY_FIELD_AS_NULL = TRUE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TRIM_SPACE = TRUE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DATE_FORMAT = 'AUTO'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ERROR_ON_COLUMN_COUNT_MISMATCH = TRUE;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SHOW FILE FORMATS IN SCHEMA DEMO_DB.RAW;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7 – External Stage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828800" cy="4572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9B5E8"/>
                </a:solidFill>
                <a:latin typeface="Calibri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Named reference to the S3 location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Uses STORAGE_INTEGRATION (no AWS keys)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URL must be within STORAGE_ALLOWED_LOCATIONS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LIST verifies connectivity &amp; permissions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Can query staged files directly with $1, $2 ... before loading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09728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9B5E8"/>
                </a:solidFill>
                <a:latin typeface="Calibri"/>
              </a:defRPr>
            </a:pPr>
            <a:r>
              <a:t>Commands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554480"/>
            <a:ext cx="704088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t"/>
          <a:lstStyle/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CREATE OR REPLACE STAGE DEMO_DB.RAW.S3_CSV_STAGE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URL = 's3://my-snowflake-demo-bucket/csv/'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STORAGE_INTEGRATION = S3_INT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FILE_FORMAT = DEMO_DB.RAW.CSV_FF;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-- verify access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LIST @DEMO_DB.RAW.S3_CSV_STAGE;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-- preview file contents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SELECT $1, $2, $3, $4, $5, METADATA$FILENAME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FROM @DEMO_DB.RAW.S3_CSV_STAGE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  (FILE_FORMAT =&gt; 'DEMO_DB.RAW.CSV_FF')</a:t>
            </a:r>
          </a:p>
          <a:p>
            <a:pPr algn="l">
              <a:defRPr sz="1200">
                <a:solidFill>
                  <a:srgbClr val="D4F0FF"/>
                </a:solidFill>
                <a:latin typeface="Consolas"/>
              </a:defRPr>
            </a:pPr>
            <a:r>
              <a:t>LIMIT 10;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8 – COPY INTO (Bulk Load)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828800" cy="4572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9B5E8"/>
                </a:solidFill>
                <a:latin typeface="Calibri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Loads staged files into the table using a running warehouse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VALIDATION_MODE does a dry run to catch errors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ON_ERROR controls behavior: ABORT_STATEMENT (default), CONTINUE, SKIP_FILE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Load metadata prevents reloading the same file (use FORCE=TRUE to override)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Transform during load: METADATA$FILENAME into FILE_NAME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09728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9B5E8"/>
                </a:solidFill>
                <a:latin typeface="Calibri"/>
              </a:defRPr>
            </a:pPr>
            <a:r>
              <a:t>Commands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554480"/>
            <a:ext cx="704088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t"/>
          <a:lstStyle/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USE WAREHOUSE COMPUTE_WH;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-- dry run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COPY INTO DEMO_DB.RAW.CUSTOMERS (ID, NAME, EMAIL, CITY, CREATED_AT)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FROM @DEMO_DB.RAW.S3_CSV_STAGE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VALIDATION_MODE = RETURN_ERRORS;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-- actual load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COPY INTO DEMO_DB.RAW.CUSTOMERS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(ID, NAME, EMAIL, CITY, CREATED_AT, FILE_NAME)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FROM (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SELECT $1, $2, $3, $4, $5, METADATA$FILENAME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FROM @DEMO_DB.RAW.S3_CSV_STAGE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)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PATTERN = '.*[.]csv'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ON_ERROR = 'CONTINUE';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SELECT * FROM DEMO_DB.RAW.CUSTOMERS;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9 – Snowpipe (AUTO_INGEST)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828800" cy="4572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SNOWFLAKE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9B5E8"/>
                </a:solidFill>
                <a:latin typeface="Calibri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PIPE = named COPY INTO statement executed automatically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AUTO_INGEST = TRUE → listens to an SQS queue for S3 events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Serverless: billed per compute used, no warehouse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SHOW PIPES → notification_channel column = SQS ARN to use in S3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Pipe does NOT load files that existed before it was created — use REFRESH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09728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9B5E8"/>
                </a:solidFill>
                <a:latin typeface="Calibri"/>
              </a:defRPr>
            </a:pPr>
            <a:r>
              <a:t>Commands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554480"/>
            <a:ext cx="704088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t"/>
          <a:lstStyle/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CREATE OR REPLACE PIPE DEMO_DB.RAW.CUSTOMERS_PIPE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AUTO_INGEST = TRUE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AS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COPY INTO DEMO_DB.RAW.CUSTOMERS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(ID, NAME, EMAIL, CITY, CREATED_AT, FILE_NAME)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FROM (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SELECT $1, $2, $3, $4, $5, METADATA$FILENAME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FROM @DEMO_DB.RAW.S3_CSV_STAGE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)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FILE_FORMAT = (FORMAT_NAME = 'DEMO_DB.RAW.CSV_FF')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ON_ERROR = 'CONTINUE';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SHOW PIPES IN SCHEMA DEMO_DB.RAW;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-- copy "notification_channel" (SQS ARN)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-- load files staged before pipe creation (last 7 days)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ALTER PIPE DEMO_DB.RAW.CUSTOMERS_PIPE REFRESH;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10 – S3 Event Notification → SQS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828800" cy="4572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F9900"/>
                </a:solidFill>
                <a:latin typeface="Calibri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S3 &gt; bucket &gt; Properties &gt; Event notifications &gt; Create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Prefix: csv/   Suffix: .csv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Event type: All object create events (s3:ObjectCreated:*)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Destination: SQS queue → 'Enter SQS queue ARN' → paste notification_channel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One SQS queue is shared by all auto-ingest pipes in the account/region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09728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F9900"/>
                </a:solidFill>
                <a:latin typeface="Calibri"/>
              </a:defRPr>
            </a:pPr>
            <a:r>
              <a:t>Commands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554480"/>
            <a:ext cx="704088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t"/>
          <a:lstStyle/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# notification.json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{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"QueueConfigurations": [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  {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    "Id": "snowpipe-csv-events",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    "QueueArn": "arn:aws:sqs:us-east-1:999999999999:sf-snowpipe-XXXX",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    "Events": ["s3:ObjectCreated:*"],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    "Filter": { "Key": { "FilterRules": [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        { "Name": "prefix", "Value": "csv/" },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        { "Name": "suffix", "Value": ".csv" }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    ]}}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  }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]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}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aws s3api put-bucket-notification-configuration \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--bucket my-snowflake-demo-bucket \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--notification-configuration file://notification.json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11 – End-to-End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828800" cy="45720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B2A4A"/>
                </a:solidFill>
                <a:latin typeface="Calibri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Upload a new CSV to s3://bucket/csv/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Wait ~1 minute (Snowpipe latency)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Check pipe status and load history</a:t>
            </a:r>
          </a:p>
          <a:p>
            <a:pPr>
              <a:spcAft>
                <a:spcPts val="4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• Query the table to see new rows with FILE_NAME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09728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B2A4A"/>
                </a:solidFill>
                <a:latin typeface="Calibri"/>
              </a:defRPr>
            </a:pPr>
            <a:r>
              <a:t>Commands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554480"/>
            <a:ext cx="704088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t"/>
          <a:lstStyle/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# AWS: drop a new file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aws s3 cp customers_2.csv \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s3://my-snowflake-demo-bucket/csv/customers_2.csv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-- Snowflake: pipe health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SELECT SYSTEM$PIPE_STATUS('DEMO_DB.RAW.CUSTOMERS_PIPE');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-- load history (last hour)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SELECT FILE_NAME, STATUS, ROW_COUNT, FIRST_ERROR_MESSAGE, LAST_LOAD_TIME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FROM TABLE(DEMO_DB.INFORMATION_SCHEMA.COPY_HISTORY(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TABLE_NAME =&gt; 'DEMO_DB.RAW.CUSTOMERS',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START_TIME =&gt; DATEADD(HOUR, -1, CURRENT_TIMESTAMP())));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SELECT FILE_NAME, COUNT(*) FROM DEMO_DB.RAW.CUSTOMERS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GROUP BY FILE_NAME;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Monitoring &amp;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LIST @stage fails → check IAM trust policy (IAM user ARN + External ID) and IAM policy resources</a:t>
            </a:r>
          </a:p>
          <a:p>
            <a:pPr>
              <a:spcAft>
                <a:spcPts val="4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Pipe not loading → verify S3 notification ARN = SHOW PIPES notification_channel; prefix/suffix match</a:t>
            </a:r>
          </a:p>
          <a:p>
            <a:pPr>
              <a:spcAft>
                <a:spcPts val="4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Files already loaded are skipped (load metadata) — FORCE only in COPY, not pipes</a:t>
            </a:r>
          </a:p>
          <a:p>
            <a:pPr>
              <a:spcAft>
                <a:spcPts val="4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Parse errors → COPY_HISTORY FIRST_ERROR_MESSAGE, VALIDATE_PIPE_LOAD</a:t>
            </a:r>
          </a:p>
          <a:p>
            <a:pPr>
              <a:spcAft>
                <a:spcPts val="4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Pause/resume pipe for maintenance</a:t>
            </a:r>
          </a:p>
          <a:p>
            <a:pPr>
              <a:spcAft>
                <a:spcPts val="4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Snowpipe cost → PIPE_USAGE_HISTORY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5669280" cy="5486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t"/>
          <a:lstStyle/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-- errors for a pipe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SELECT * FROM TABLE(INFORMATION_SCHEMA.VALIDATE_PIPE_LOAD(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PIPE_NAME =&gt; 'DEMO_DB.RAW.CUSTOMERS_PIPE',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START_TIME =&gt; DATEADD(HOUR, -24, CURRENT_TIMESTAMP())));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-- pause / resume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ALTER PIPE DEMO_DB.RAW.CUSTOMERS_PIPE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SET PIPE_EXECUTION_PAUSED = TRUE;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ALTER PIPE DEMO_DB.RAW.CUSTOMERS_PIPE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SET PIPE_EXECUTION_PAUSED = FALSE;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endParaRPr/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-- credit usage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SELECT * FROM TABLE(INFORMATION_SCHEMA.PIPE_USAGE_HISTORY(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DATE_RANGE_START =&gt; DATEADD(DAY, -7, CURRENT_DATE()),</a:t>
            </a:r>
          </a:p>
          <a:p>
            <a:pPr algn="l">
              <a:defRPr sz="1100">
                <a:solidFill>
                  <a:srgbClr val="D4F0FF"/>
                </a:solidFill>
                <a:latin typeface="Consolas"/>
              </a:defRPr>
            </a:pPr>
            <a:r>
              <a:t>  PIPE_NAME =&gt; 'DEMO_DB.RAW.CUSTOMERS_PIPE'));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COPY INTO vs Snowpipe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COPY INTO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Snowpipe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t>Manual / scheduled (Task)</a:t>
                      </a:r>
                    </a:p>
                  </a:txBody>
                  <a:tcPr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t>Event-driven (S3 → SQS)</a:t>
                      </a:r>
                    </a:p>
                  </a:txBody>
                  <a:tcPr>
                    <a:solidFill>
                      <a:srgbClr val="E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t>Compute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t>User warehouse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t>Serverless (Snowflake-managed)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t>On demand</a:t>
                      </a:r>
                    </a:p>
                  </a:txBody>
                  <a:tcPr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t>~ under 1 minute</a:t>
                      </a:r>
                    </a:p>
                  </a:txBody>
                  <a:tcPr>
                    <a:solidFill>
                      <a:srgbClr val="E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t>Load 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t>64 days, stored with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t>14 days, stored with pipe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t>Bulk / historical loads</a:t>
                      </a:r>
                    </a:p>
                  </a:txBody>
                  <a:tcPr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t>Continuous micro-batches</a:t>
                      </a:r>
                    </a:p>
                  </a:txBody>
                  <a:tcPr>
                    <a:solidFill>
                      <a:srgbClr val="EA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t>Re-load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t>FORCE = 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E1E1E"/>
                          </a:solidFill>
                        </a:defRPr>
                      </a:pPr>
                      <a:r>
                        <a:t>Not supported (re-stage new file name)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Summary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444444"/>
                </a:solidFill>
                <a:latin typeface="Calibri"/>
              </a:defRPr>
            </a:pPr>
            <a:r>
              <a:t>✔ Order of build: S3 → IAM Policy → IAM Role → Table → Storage Integration → Update Trust → File Format → Stage → COPY test → Pipe → S3 Event</a:t>
            </a:r>
          </a:p>
          <a:p>
            <a:pPr>
              <a:spcAft>
                <a:spcPts val="400"/>
              </a:spcAft>
              <a:defRPr sz="1800" b="0">
                <a:solidFill>
                  <a:srgbClr val="444444"/>
                </a:solidFill>
                <a:latin typeface="Calibri"/>
              </a:defRPr>
            </a:pPr>
            <a:r>
              <a:t>✔ Use Storage Integrations — never embed AWS keys in stages</a:t>
            </a:r>
          </a:p>
          <a:p>
            <a:pPr>
              <a:spcAft>
                <a:spcPts val="400"/>
              </a:spcAft>
              <a:defRPr sz="1800" b="0">
                <a:solidFill>
                  <a:srgbClr val="444444"/>
                </a:solidFill>
                <a:latin typeface="Calibri"/>
              </a:defRPr>
            </a:pPr>
            <a:r>
              <a:t>✔ Least-privilege IAM policy scoped to bucket/prefix</a:t>
            </a:r>
          </a:p>
          <a:p>
            <a:pPr>
              <a:spcAft>
                <a:spcPts val="400"/>
              </a:spcAft>
              <a:defRPr sz="1800" b="0">
                <a:solidFill>
                  <a:srgbClr val="444444"/>
                </a:solidFill>
                <a:latin typeface="Calibri"/>
              </a:defRPr>
            </a:pPr>
            <a:r>
              <a:t>✔ Keep files 100–250 MB compressed for optimal Snowpipe performance</a:t>
            </a:r>
          </a:p>
          <a:p>
            <a:pPr>
              <a:spcAft>
                <a:spcPts val="400"/>
              </a:spcAft>
              <a:defRPr sz="1800" b="0">
                <a:solidFill>
                  <a:srgbClr val="444444"/>
                </a:solidFill>
                <a:latin typeface="Calibri"/>
              </a:defRPr>
            </a:pPr>
            <a:r>
              <a:t>✔ Capture METADATA$FILENAME for lineage and debugging</a:t>
            </a:r>
          </a:p>
          <a:p>
            <a:pPr>
              <a:spcAft>
                <a:spcPts val="400"/>
              </a:spcAft>
              <a:defRPr sz="1800" b="0">
                <a:solidFill>
                  <a:srgbClr val="444444"/>
                </a:solidFill>
                <a:latin typeface="Calibri"/>
              </a:defRPr>
            </a:pPr>
            <a:r>
              <a:t>✔ Avoid CREATE OR REPLACE on integration in prod (breaks trust); replacing a pipe resets its load history</a:t>
            </a:r>
          </a:p>
          <a:p>
            <a:pPr>
              <a:spcAft>
                <a:spcPts val="400"/>
              </a:spcAft>
              <a:defRPr sz="1800" b="0">
                <a:solidFill>
                  <a:srgbClr val="444444"/>
                </a:solidFill>
                <a:latin typeface="Calibri"/>
              </a:defRPr>
            </a:pPr>
            <a:r>
              <a:t>✔ Monitor with SYSTEM$PIPE_STATUS, COPY_HISTORY, PIPE_USAGE_HISTORY</a:t>
            </a:r>
          </a:p>
          <a:p>
            <a:pPr>
              <a:spcAft>
                <a:spcPts val="400"/>
              </a:spcAft>
              <a:defRPr sz="1800" b="0">
                <a:solidFill>
                  <a:srgbClr val="44444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800" b="0">
                <a:solidFill>
                  <a:srgbClr val="444444"/>
                </a:solidFill>
                <a:latin typeface="Calibri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3334</Words>
  <Application>Microsoft Office PowerPoint</Application>
  <PresentationFormat>Widescreen</PresentationFormat>
  <Paragraphs>408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Ajay Kumar</cp:lastModifiedBy>
  <cp:revision>2</cp:revision>
  <dcterms:created xsi:type="dcterms:W3CDTF">2013-01-27T09:14:16Z</dcterms:created>
  <dcterms:modified xsi:type="dcterms:W3CDTF">2026-10-15T23:09:39Z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b638e0-f50f-48bd-992f-bcb55031a99f_Enabled">
    <vt:lpwstr>true</vt:lpwstr>
  </property>
  <property fmtid="{D5CDD505-2E9C-101B-9397-08002B2CF9AE}" pid="3" name="MSIP_Label_b0b638e0-f50f-48bd-992f-bcb55031a99f_SetDate">
    <vt:lpwstr>2026-10-15T23:08:19Z</vt:lpwstr>
  </property>
  <property fmtid="{D5CDD505-2E9C-101B-9397-08002B2CF9AE}" pid="4" name="MSIP_Label_b0b638e0-f50f-48bd-992f-bcb55031a99f_Method">
    <vt:lpwstr>Standard</vt:lpwstr>
  </property>
  <property fmtid="{D5CDD505-2E9C-101B-9397-08002B2CF9AE}" pid="5" name="MSIP_Label_b0b638e0-f50f-48bd-992f-bcb55031a99f_Name">
    <vt:lpwstr>Confidential Default</vt:lpwstr>
  </property>
  <property fmtid="{D5CDD505-2E9C-101B-9397-08002B2CF9AE}" pid="6" name="MSIP_Label_b0b638e0-f50f-48bd-992f-bcb55031a99f_SiteId">
    <vt:lpwstr>f45ccc07-e57e-4d15-bf6f-f6cbccd2d395</vt:lpwstr>
  </property>
  <property fmtid="{D5CDD505-2E9C-101B-9397-08002B2CF9AE}" pid="7" name="MSIP_Label_b0b638e0-f50f-48bd-992f-bcb55031a99f_ActionId">
    <vt:lpwstr>a94661a8-f008-4a06-a9e7-be549a7c51c9</vt:lpwstr>
  </property>
  <property fmtid="{D5CDD505-2E9C-101B-9397-08002B2CF9AE}" pid="8" name="MSIP_Label_b0b638e0-f50f-48bd-992f-bcb55031a99f_ContentBits">
    <vt:lpwstr>0</vt:lpwstr>
  </property>
  <property fmtid="{D5CDD505-2E9C-101B-9397-08002B2CF9AE}" pid="9" name="MSIP_Label_b0b638e0-f50f-48bd-992f-bcb55031a99f_Tag">
    <vt:lpwstr>10, 3, 0, 1</vt:lpwstr>
  </property>
</Properties>
</file>